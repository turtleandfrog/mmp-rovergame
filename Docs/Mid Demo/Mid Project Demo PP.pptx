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13"/>
  </p:notesMasterIdLst>
  <p:sldIdLst>
    <p:sldId id="256" r:id="rId2"/>
    <p:sldId id="257" r:id="rId3"/>
    <p:sldId id="258" r:id="rId4"/>
    <p:sldId id="268" r:id="rId5"/>
    <p:sldId id="263" r:id="rId6"/>
    <p:sldId id="264" r:id="rId7"/>
    <p:sldId id="265" r:id="rId8"/>
    <p:sldId id="272" r:id="rId9"/>
    <p:sldId id="273" r:id="rId10"/>
    <p:sldId id="274" r:id="rId11"/>
    <p:sldId id="26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94660"/>
  </p:normalViewPr>
  <p:slideViewPr>
    <p:cSldViewPr snapToGrid="0">
      <p:cViewPr varScale="1">
        <p:scale>
          <a:sx n="104" d="100"/>
          <a:sy n="104" d="100"/>
        </p:scale>
        <p:origin x="384"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27C833-5B6B-4331-A5F5-DFDF55383D64}" type="datetimeFigureOut">
              <a:rPr lang="en-GB" smtClean="0"/>
              <a:t>12/03/2025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1F7178-3399-4692-94F3-EF9548FC68A1}" type="slidenum">
              <a:rPr lang="en-GB" smtClean="0"/>
              <a:t>‹#›</a:t>
            </a:fld>
            <a:endParaRPr lang="en-GB"/>
          </a:p>
        </p:txBody>
      </p:sp>
    </p:spTree>
    <p:extLst>
      <p:ext uri="{BB962C8B-B14F-4D97-AF65-F5344CB8AC3E}">
        <p14:creationId xmlns:p14="http://schemas.microsoft.com/office/powerpoint/2010/main" val="39718161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11F7178-3399-4692-94F3-EF9548FC68A1}" type="slidenum">
              <a:rPr lang="en-GB" smtClean="0"/>
              <a:t>4</a:t>
            </a:fld>
            <a:endParaRPr lang="en-GB"/>
          </a:p>
        </p:txBody>
      </p:sp>
    </p:spTree>
    <p:extLst>
      <p:ext uri="{BB962C8B-B14F-4D97-AF65-F5344CB8AC3E}">
        <p14:creationId xmlns:p14="http://schemas.microsoft.com/office/powerpoint/2010/main" val="27585004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3EB8E90-470A-443D-860C-FCE320DEF9A2}" type="datetimeFigureOut">
              <a:rPr lang="en-GB" smtClean="0"/>
              <a:t>12/03/2025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2191111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EB8E90-470A-443D-860C-FCE320DEF9A2}" type="datetimeFigureOut">
              <a:rPr lang="en-GB" smtClean="0"/>
              <a:t>12/03/2025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2124974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EB8E90-470A-443D-860C-FCE320DEF9A2}" type="datetimeFigureOut">
              <a:rPr lang="en-GB" smtClean="0"/>
              <a:t>12/03/2025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2533257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3EB8E90-470A-443D-860C-FCE320DEF9A2}" type="datetimeFigureOut">
              <a:rPr lang="en-GB" smtClean="0"/>
              <a:t>12/03/2025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37875014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3EB8E90-470A-443D-860C-FCE320DEF9A2}" type="datetimeFigureOut">
              <a:rPr lang="en-GB" smtClean="0"/>
              <a:t>12/03/2025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39943320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3EB8E90-470A-443D-860C-FCE320DEF9A2}" type="datetimeFigureOut">
              <a:rPr lang="en-GB" smtClean="0"/>
              <a:t>12/03/2025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1168117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3EB8E90-470A-443D-860C-FCE320DEF9A2}" type="datetimeFigureOut">
              <a:rPr lang="en-GB" smtClean="0"/>
              <a:t>12/03/2025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23418479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3EB8E90-470A-443D-860C-FCE320DEF9A2}" type="datetimeFigureOut">
              <a:rPr lang="en-GB" smtClean="0"/>
              <a:t>12/03/2025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876691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3EB8E90-470A-443D-860C-FCE320DEF9A2}" type="datetimeFigureOut">
              <a:rPr lang="en-GB" smtClean="0"/>
              <a:t>12/03/2025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2908343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EB8E90-470A-443D-860C-FCE320DEF9A2}" type="datetimeFigureOut">
              <a:rPr lang="en-GB" smtClean="0"/>
              <a:t>12/03/2025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3171471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EB8E90-470A-443D-860C-FCE320DEF9A2}" type="datetimeFigureOut">
              <a:rPr lang="en-GB" smtClean="0"/>
              <a:t>12/03/2025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55B46CB-F614-46AE-AC20-0DA32CBC9D16}" type="slidenum">
              <a:rPr lang="en-GB" smtClean="0"/>
              <a:t>‹#›</a:t>
            </a:fld>
            <a:endParaRPr lang="en-GB"/>
          </a:p>
        </p:txBody>
      </p:sp>
    </p:spTree>
    <p:extLst>
      <p:ext uri="{BB962C8B-B14F-4D97-AF65-F5344CB8AC3E}">
        <p14:creationId xmlns:p14="http://schemas.microsoft.com/office/powerpoint/2010/main" val="958947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EB8E90-470A-443D-860C-FCE320DEF9A2}" type="datetimeFigureOut">
              <a:rPr lang="en-GB" smtClean="0"/>
              <a:t>12/03/2025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55B46CB-F614-46AE-AC20-0DA32CBC9D16}" type="slidenum">
              <a:rPr lang="en-GB" smtClean="0"/>
              <a:t>‹#›</a:t>
            </a:fld>
            <a:endParaRPr lang="en-GB"/>
          </a:p>
        </p:txBody>
      </p:sp>
    </p:spTree>
    <p:extLst>
      <p:ext uri="{BB962C8B-B14F-4D97-AF65-F5344CB8AC3E}">
        <p14:creationId xmlns:p14="http://schemas.microsoft.com/office/powerpoint/2010/main" val="1022401017"/>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TurtleandFrog/MMP-RoverGame"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9370A1E-A2FD-189A-DB6B-F07EDC8C0FE1}"/>
              </a:ext>
            </a:extLst>
          </p:cNvPr>
          <p:cNvSpPr>
            <a:spLocks noGrp="1"/>
          </p:cNvSpPr>
          <p:nvPr>
            <p:ph type="ctrTitle"/>
          </p:nvPr>
        </p:nvSpPr>
        <p:spPr>
          <a:xfrm>
            <a:off x="1314824" y="735106"/>
            <a:ext cx="10053763" cy="2928470"/>
          </a:xfrm>
        </p:spPr>
        <p:txBody>
          <a:bodyPr anchor="b">
            <a:normAutofit/>
          </a:bodyPr>
          <a:lstStyle/>
          <a:p>
            <a:pPr algn="l"/>
            <a:br>
              <a:rPr lang="en-GB" sz="4800" dirty="0">
                <a:solidFill>
                  <a:srgbClr val="FFFFFF"/>
                </a:solidFill>
              </a:rPr>
            </a:br>
            <a:r>
              <a:rPr lang="en-GB" sz="4800" dirty="0">
                <a:solidFill>
                  <a:srgbClr val="FFFFFF"/>
                </a:solidFill>
              </a:rPr>
              <a:t>Mid Project Demo-</a:t>
            </a:r>
            <a:br>
              <a:rPr lang="en-GB" sz="4800" dirty="0">
                <a:solidFill>
                  <a:srgbClr val="FFFFFF"/>
                </a:solidFill>
              </a:rPr>
            </a:br>
            <a:br>
              <a:rPr lang="en-GB" sz="4800" dirty="0">
                <a:solidFill>
                  <a:srgbClr val="FFFFFF"/>
                </a:solidFill>
              </a:rPr>
            </a:br>
            <a:r>
              <a:rPr lang="en-GB" sz="4800" dirty="0">
                <a:solidFill>
                  <a:srgbClr val="FFFFFF"/>
                </a:solidFill>
              </a:rPr>
              <a:t>Rover Exploration Game</a:t>
            </a:r>
          </a:p>
        </p:txBody>
      </p:sp>
      <p:sp>
        <p:nvSpPr>
          <p:cNvPr id="3" name="Subtitle 2">
            <a:extLst>
              <a:ext uri="{FF2B5EF4-FFF2-40B4-BE49-F238E27FC236}">
                <a16:creationId xmlns:a16="http://schemas.microsoft.com/office/drawing/2014/main" id="{1BE60282-9881-FA9A-AB94-27170EB3912C}"/>
              </a:ext>
            </a:extLst>
          </p:cNvPr>
          <p:cNvSpPr>
            <a:spLocks noGrp="1"/>
          </p:cNvSpPr>
          <p:nvPr>
            <p:ph type="subTitle" idx="1"/>
          </p:nvPr>
        </p:nvSpPr>
        <p:spPr>
          <a:xfrm>
            <a:off x="1350682" y="4870824"/>
            <a:ext cx="10005951" cy="1458258"/>
          </a:xfrm>
        </p:spPr>
        <p:txBody>
          <a:bodyPr anchor="ctr">
            <a:normAutofit/>
          </a:bodyPr>
          <a:lstStyle/>
          <a:p>
            <a:pPr algn="l"/>
            <a:r>
              <a:rPr lang="en-GB" sz="1700" dirty="0"/>
              <a:t>Dan Parkes</a:t>
            </a:r>
          </a:p>
          <a:p>
            <a:pPr algn="l"/>
            <a:r>
              <a:rPr lang="en-GB" sz="1700" dirty="0"/>
              <a:t>Dap90</a:t>
            </a:r>
          </a:p>
          <a:p>
            <a:pPr algn="l"/>
            <a:endParaRPr lang="en-GB" sz="1700" dirty="0"/>
          </a:p>
        </p:txBody>
      </p:sp>
    </p:spTree>
    <p:extLst>
      <p:ext uri="{BB962C8B-B14F-4D97-AF65-F5344CB8AC3E}">
        <p14:creationId xmlns:p14="http://schemas.microsoft.com/office/powerpoint/2010/main" val="16628897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7B00CA-0032-D0B6-9788-59C7409F942C}"/>
              </a:ext>
            </a:extLst>
          </p:cNvPr>
          <p:cNvSpPr>
            <a:spLocks noGrp="1"/>
          </p:cNvSpPr>
          <p:nvPr>
            <p:ph type="title"/>
          </p:nvPr>
        </p:nvSpPr>
        <p:spPr>
          <a:xfrm>
            <a:off x="1371599" y="294538"/>
            <a:ext cx="9895951" cy="1033669"/>
          </a:xfrm>
        </p:spPr>
        <p:txBody>
          <a:bodyPr>
            <a:normAutofit/>
          </a:bodyPr>
          <a:lstStyle/>
          <a:p>
            <a:r>
              <a:rPr lang="en-GB" sz="4000">
                <a:solidFill>
                  <a:srgbClr val="FFFFFF"/>
                </a:solidFill>
              </a:rPr>
              <a:t>Project Outline-</a:t>
            </a:r>
          </a:p>
        </p:txBody>
      </p:sp>
      <p:sp>
        <p:nvSpPr>
          <p:cNvPr id="3" name="Content Placeholder 2">
            <a:extLst>
              <a:ext uri="{FF2B5EF4-FFF2-40B4-BE49-F238E27FC236}">
                <a16:creationId xmlns:a16="http://schemas.microsoft.com/office/drawing/2014/main" id="{B413F4A7-A41D-A2E5-9044-667EC7A709D1}"/>
              </a:ext>
            </a:extLst>
          </p:cNvPr>
          <p:cNvSpPr>
            <a:spLocks noGrp="1"/>
          </p:cNvSpPr>
          <p:nvPr>
            <p:ph idx="1"/>
          </p:nvPr>
        </p:nvSpPr>
        <p:spPr>
          <a:xfrm>
            <a:off x="-3" y="1590740"/>
            <a:ext cx="12192002" cy="5319424"/>
          </a:xfrm>
        </p:spPr>
        <p:txBody>
          <a:bodyPr anchor="t" anchorCtr="0">
            <a:normAutofit lnSpcReduction="10000"/>
          </a:bodyPr>
          <a:lstStyle/>
          <a:p>
            <a:r>
              <a:rPr lang="en-GB" sz="2600" dirty="0"/>
              <a:t>Rover Exploration Game – developed using Unity and Visual Studio Code.</a:t>
            </a:r>
          </a:p>
          <a:p>
            <a:endParaRPr lang="en-GB" sz="2600" dirty="0"/>
          </a:p>
          <a:p>
            <a:r>
              <a:rPr lang="en-GB" sz="2600" dirty="0"/>
              <a:t>A flat top hex tile rover exploration game. Current premise is navigating a rover to the objective tile whilst conserving battery and navigating tiles of set elevation. Rover can only travel to tiles of equal or adjacent elevation (1 through 5).</a:t>
            </a:r>
          </a:p>
          <a:p>
            <a:endParaRPr lang="en-GB" sz="2600" dirty="0"/>
          </a:p>
          <a:p>
            <a:pPr marL="0" indent="0">
              <a:buNone/>
            </a:pPr>
            <a:endParaRPr lang="en-GB" sz="2600" dirty="0"/>
          </a:p>
          <a:p>
            <a:r>
              <a:rPr lang="en-GB" sz="2600" dirty="0"/>
              <a:t>VCS- GitHub is used for major project management and storing documents and scripts. Unity Version Control is used to back up entire Unity project (couldn’t operate Git LFS).</a:t>
            </a:r>
          </a:p>
          <a:p>
            <a:endParaRPr lang="en-GB" sz="2000" dirty="0"/>
          </a:p>
          <a:p>
            <a:pPr marL="0" indent="0">
              <a:buNone/>
            </a:pPr>
            <a:endParaRPr lang="en-GB" sz="2000" dirty="0"/>
          </a:p>
          <a:p>
            <a:pPr marL="0" indent="0">
              <a:buNone/>
            </a:pPr>
            <a:r>
              <a:rPr lang="en-US" sz="1400" dirty="0" err="1">
                <a:hlinkClick r:id="rId2"/>
              </a:rPr>
              <a:t>TurtleandFrog</a:t>
            </a:r>
            <a:r>
              <a:rPr lang="en-US" sz="1400" dirty="0">
                <a:hlinkClick r:id="rId2"/>
              </a:rPr>
              <a:t>/MMP-</a:t>
            </a:r>
            <a:r>
              <a:rPr lang="en-US" sz="1400" dirty="0" err="1">
                <a:hlinkClick r:id="rId2"/>
              </a:rPr>
              <a:t>RoverGame</a:t>
            </a:r>
            <a:r>
              <a:rPr lang="en-US" sz="1400" dirty="0">
                <a:hlinkClick r:id="rId2"/>
              </a:rPr>
              <a:t>: CS39440 Major Project</a:t>
            </a:r>
            <a:endParaRPr lang="en-GB" sz="2000" i="1" dirty="0">
              <a:solidFill>
                <a:srgbClr val="FF0000"/>
              </a:solidFill>
            </a:endParaRPr>
          </a:p>
        </p:txBody>
      </p:sp>
    </p:spTree>
    <p:extLst>
      <p:ext uri="{BB962C8B-B14F-4D97-AF65-F5344CB8AC3E}">
        <p14:creationId xmlns:p14="http://schemas.microsoft.com/office/powerpoint/2010/main" val="13842484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030813-2DD5-D241-7BD3-3A41E134010A}"/>
              </a:ext>
            </a:extLst>
          </p:cNvPr>
          <p:cNvSpPr>
            <a:spLocks noGrp="1"/>
          </p:cNvSpPr>
          <p:nvPr>
            <p:ph type="title"/>
          </p:nvPr>
        </p:nvSpPr>
        <p:spPr>
          <a:xfrm>
            <a:off x="1371599" y="294538"/>
            <a:ext cx="9895951" cy="1033669"/>
          </a:xfrm>
        </p:spPr>
        <p:txBody>
          <a:bodyPr>
            <a:normAutofit/>
          </a:bodyPr>
          <a:lstStyle/>
          <a:p>
            <a:r>
              <a:rPr lang="en-GB" sz="4000">
                <a:solidFill>
                  <a:srgbClr val="FFFFFF"/>
                </a:solidFill>
              </a:rPr>
              <a:t>Feature Driven Development</a:t>
            </a:r>
          </a:p>
        </p:txBody>
      </p:sp>
      <p:sp>
        <p:nvSpPr>
          <p:cNvPr id="3" name="Content Placeholder 2">
            <a:extLst>
              <a:ext uri="{FF2B5EF4-FFF2-40B4-BE49-F238E27FC236}">
                <a16:creationId xmlns:a16="http://schemas.microsoft.com/office/drawing/2014/main" id="{687C5510-CC7B-1DCB-D001-441F64E35413}"/>
              </a:ext>
            </a:extLst>
          </p:cNvPr>
          <p:cNvSpPr>
            <a:spLocks noGrp="1"/>
          </p:cNvSpPr>
          <p:nvPr>
            <p:ph idx="1"/>
          </p:nvPr>
        </p:nvSpPr>
        <p:spPr>
          <a:xfrm>
            <a:off x="0" y="1590741"/>
            <a:ext cx="12191996" cy="5267259"/>
          </a:xfrm>
        </p:spPr>
        <p:txBody>
          <a:bodyPr anchor="t" anchorCtr="0">
            <a:normAutofit/>
          </a:bodyPr>
          <a:lstStyle/>
          <a:p>
            <a:r>
              <a:rPr lang="en-GB" sz="2600" dirty="0"/>
              <a:t>FDD is used as it provides a structured approach with regular deliverables, and ensures the project is planned and designed at the start. Given weekly supervisor meetings and the fairly simple features, I felt this was the most appropriate.</a:t>
            </a:r>
          </a:p>
          <a:p>
            <a:pPr marL="0" indent="0">
              <a:buNone/>
            </a:pPr>
            <a:endParaRPr lang="en-GB" sz="2000" dirty="0"/>
          </a:p>
          <a:p>
            <a:pPr marL="0" indent="0">
              <a:buNone/>
            </a:pPr>
            <a:r>
              <a:rPr lang="en-GB" sz="2600" dirty="0"/>
              <a:t>Initial Issue Board</a:t>
            </a:r>
          </a:p>
          <a:p>
            <a:pPr lvl="1"/>
            <a:r>
              <a:rPr lang="en-GB" sz="2600" dirty="0"/>
              <a:t>Menus – </a:t>
            </a:r>
          </a:p>
          <a:p>
            <a:pPr lvl="2"/>
            <a:r>
              <a:rPr lang="en-GB" sz="1800" dirty="0"/>
              <a:t>Main Menu, Settings Menu, Pause Menu</a:t>
            </a:r>
          </a:p>
          <a:p>
            <a:pPr lvl="1"/>
            <a:r>
              <a:rPr lang="en-GB" sz="2600" dirty="0"/>
              <a:t>Gameplay – </a:t>
            </a:r>
          </a:p>
          <a:p>
            <a:pPr lvl="2"/>
            <a:r>
              <a:rPr lang="en-GB" sz="1800" dirty="0"/>
              <a:t>Hexagonal Tilemap, Terrain, Resource Management, Win Condition, UI</a:t>
            </a:r>
          </a:p>
          <a:p>
            <a:pPr lvl="1"/>
            <a:r>
              <a:rPr lang="en-GB" sz="2600" dirty="0"/>
              <a:t>Stretch Goals – </a:t>
            </a:r>
          </a:p>
          <a:p>
            <a:pPr lvl="2"/>
            <a:r>
              <a:rPr lang="en-GB" sz="1800" dirty="0"/>
              <a:t>Mobile Port, Accessibility Features</a:t>
            </a:r>
          </a:p>
          <a:p>
            <a:pPr lvl="1"/>
            <a:endParaRPr lang="en-GB" sz="2000" dirty="0"/>
          </a:p>
          <a:p>
            <a:pPr marL="457200" lvl="1" indent="0">
              <a:buNone/>
            </a:pPr>
            <a:r>
              <a:rPr lang="en-GB" sz="2600" dirty="0"/>
              <a:t>Each issue was split into design and implementation.</a:t>
            </a:r>
          </a:p>
          <a:p>
            <a:pPr marL="457200" lvl="1" indent="0">
              <a:buNone/>
            </a:pPr>
            <a:endParaRPr lang="en-GB" sz="2000" dirty="0"/>
          </a:p>
        </p:txBody>
      </p:sp>
    </p:spTree>
    <p:extLst>
      <p:ext uri="{BB962C8B-B14F-4D97-AF65-F5344CB8AC3E}">
        <p14:creationId xmlns:p14="http://schemas.microsoft.com/office/powerpoint/2010/main" val="40753791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E8851B-4BEE-4864-BD33-9C799EB11941}"/>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Is the Process Working</a:t>
            </a:r>
          </a:p>
        </p:txBody>
      </p:sp>
      <p:sp>
        <p:nvSpPr>
          <p:cNvPr id="3" name="Content Placeholder 2">
            <a:extLst>
              <a:ext uri="{FF2B5EF4-FFF2-40B4-BE49-F238E27FC236}">
                <a16:creationId xmlns:a16="http://schemas.microsoft.com/office/drawing/2014/main" id="{989FD002-59AD-602A-EAF9-C6DB57D94C93}"/>
              </a:ext>
            </a:extLst>
          </p:cNvPr>
          <p:cNvSpPr>
            <a:spLocks noGrp="1"/>
          </p:cNvSpPr>
          <p:nvPr>
            <p:ph idx="1"/>
          </p:nvPr>
        </p:nvSpPr>
        <p:spPr>
          <a:xfrm>
            <a:off x="-4" y="1590740"/>
            <a:ext cx="6096004" cy="5267260"/>
          </a:xfrm>
          <a:ln w="3175">
            <a:solidFill>
              <a:schemeClr val="tx1"/>
            </a:solidFill>
          </a:ln>
        </p:spPr>
        <p:txBody>
          <a:bodyPr anchor="t" anchorCtr="0">
            <a:normAutofit/>
          </a:bodyPr>
          <a:lstStyle/>
          <a:p>
            <a:r>
              <a:rPr lang="en-GB" sz="2600" dirty="0"/>
              <a:t>Overall, yes. Every week a key feature has been delivered. This has led to a playable demo for the mid week demo.</a:t>
            </a:r>
          </a:p>
          <a:p>
            <a:endParaRPr lang="en-GB" sz="2600" dirty="0"/>
          </a:p>
          <a:p>
            <a:endParaRPr lang="en-GB" sz="2600" dirty="0"/>
          </a:p>
          <a:p>
            <a:r>
              <a:rPr lang="en-GB" sz="2600" dirty="0"/>
              <a:t>However, there are things I would change:</a:t>
            </a:r>
          </a:p>
          <a:p>
            <a:pPr lvl="1"/>
            <a:r>
              <a:rPr lang="en-GB" sz="2200" dirty="0"/>
              <a:t>Test-Driven Development-</a:t>
            </a:r>
          </a:p>
          <a:p>
            <a:pPr lvl="2"/>
            <a:r>
              <a:rPr lang="en-GB" sz="1800" dirty="0"/>
              <a:t>Makes future development much easier.</a:t>
            </a:r>
          </a:p>
          <a:p>
            <a:pPr lvl="1"/>
            <a:r>
              <a:rPr lang="en-GB" sz="2200" dirty="0"/>
              <a:t>More Designs before Implementation</a:t>
            </a:r>
          </a:p>
          <a:p>
            <a:pPr lvl="2"/>
            <a:r>
              <a:rPr lang="en-GB" sz="1800" dirty="0"/>
              <a:t>Designs make implementing UI incredibly straightforward, especially placeholder UI.</a:t>
            </a:r>
          </a:p>
        </p:txBody>
      </p:sp>
      <p:pic>
        <p:nvPicPr>
          <p:cNvPr id="7" name="Picture 6" descr="A planet and moon in space&#10;&#10;AI-generated content may be incorrect.">
            <a:extLst>
              <a:ext uri="{FF2B5EF4-FFF2-40B4-BE49-F238E27FC236}">
                <a16:creationId xmlns:a16="http://schemas.microsoft.com/office/drawing/2014/main" id="{27E99B3A-E3AE-7788-82FF-0632C37553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62698" y="2412010"/>
            <a:ext cx="5562600" cy="3025934"/>
          </a:xfrm>
          <a:prstGeom prst="rect">
            <a:avLst/>
          </a:prstGeom>
        </p:spPr>
      </p:pic>
    </p:spTree>
    <p:extLst>
      <p:ext uri="{BB962C8B-B14F-4D97-AF65-F5344CB8AC3E}">
        <p14:creationId xmlns:p14="http://schemas.microsoft.com/office/powerpoint/2010/main" val="3902416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30DB05-BF49-560A-0CE9-5B85D540D68A}"/>
              </a:ext>
            </a:extLst>
          </p:cNvPr>
          <p:cNvSpPr>
            <a:spLocks noGrp="1"/>
          </p:cNvSpPr>
          <p:nvPr>
            <p:ph type="title"/>
          </p:nvPr>
        </p:nvSpPr>
        <p:spPr>
          <a:xfrm>
            <a:off x="1371599" y="294538"/>
            <a:ext cx="9895951" cy="1033669"/>
          </a:xfrm>
        </p:spPr>
        <p:txBody>
          <a:bodyPr>
            <a:normAutofit/>
          </a:bodyPr>
          <a:lstStyle/>
          <a:p>
            <a:r>
              <a:rPr lang="en-GB" sz="4000">
                <a:solidFill>
                  <a:srgbClr val="FFFFFF"/>
                </a:solidFill>
              </a:rPr>
              <a:t>Gameplay</a:t>
            </a:r>
          </a:p>
        </p:txBody>
      </p:sp>
      <p:sp>
        <p:nvSpPr>
          <p:cNvPr id="3" name="Content Placeholder 2">
            <a:extLst>
              <a:ext uri="{FF2B5EF4-FFF2-40B4-BE49-F238E27FC236}">
                <a16:creationId xmlns:a16="http://schemas.microsoft.com/office/drawing/2014/main" id="{455C63C7-7663-C68E-48D1-F12760B35332}"/>
              </a:ext>
            </a:extLst>
          </p:cNvPr>
          <p:cNvSpPr>
            <a:spLocks noGrp="1"/>
          </p:cNvSpPr>
          <p:nvPr>
            <p:ph idx="1"/>
          </p:nvPr>
        </p:nvSpPr>
        <p:spPr>
          <a:xfrm>
            <a:off x="-3" y="1590740"/>
            <a:ext cx="6038726" cy="5267259"/>
          </a:xfrm>
        </p:spPr>
        <p:txBody>
          <a:bodyPr anchor="t" anchorCtr="0">
            <a:normAutofit fontScale="92500" lnSpcReduction="20000"/>
          </a:bodyPr>
          <a:lstStyle/>
          <a:p>
            <a:r>
              <a:rPr lang="en-GB" sz="2600" dirty="0"/>
              <a:t>Instead of explaining there’s a demo. Whilst there are several missing features (and one bug by my count) this should provide a basic introduction to the game.</a:t>
            </a:r>
          </a:p>
          <a:p>
            <a:endParaRPr lang="en-GB" sz="2600" dirty="0"/>
          </a:p>
          <a:p>
            <a:r>
              <a:rPr lang="en-GB" sz="2600" b="1" dirty="0"/>
              <a:t>(Might be worth undertaking the demo at the end as my laptop has occasionally blue-screened upon launching unity.)</a:t>
            </a:r>
          </a:p>
          <a:p>
            <a:endParaRPr lang="en-GB" sz="2600" dirty="0"/>
          </a:p>
          <a:p>
            <a:endParaRPr lang="en-GB" sz="2600" dirty="0"/>
          </a:p>
          <a:p>
            <a:endParaRPr lang="en-GB" sz="2600" dirty="0"/>
          </a:p>
          <a:p>
            <a:endParaRPr lang="en-GB" sz="2600" dirty="0"/>
          </a:p>
          <a:p>
            <a:r>
              <a:rPr lang="en-GB" sz="2600" i="1" dirty="0"/>
              <a:t>All assets are merely placeholder assets from the unity asset store/ itch.io. Whilst not referenced here they will be in my final report.</a:t>
            </a:r>
          </a:p>
        </p:txBody>
      </p:sp>
      <p:pic>
        <p:nvPicPr>
          <p:cNvPr id="4" name="Picture 3" descr="A screenshot of a game&#10;&#10;AI-generated content may be incorrect.">
            <a:extLst>
              <a:ext uri="{FF2B5EF4-FFF2-40B4-BE49-F238E27FC236}">
                <a16:creationId xmlns:a16="http://schemas.microsoft.com/office/drawing/2014/main" id="{63DDF1E8-FF6C-8345-6F97-EE5F943C95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3279" y="2324355"/>
            <a:ext cx="5868977" cy="3219621"/>
          </a:xfrm>
          <a:prstGeom prst="rect">
            <a:avLst/>
          </a:prstGeom>
        </p:spPr>
      </p:pic>
    </p:spTree>
    <p:extLst>
      <p:ext uri="{BB962C8B-B14F-4D97-AF65-F5344CB8AC3E}">
        <p14:creationId xmlns:p14="http://schemas.microsoft.com/office/powerpoint/2010/main" val="1195343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907842-2E7B-A908-4246-89B3B427A3FB}"/>
              </a:ext>
            </a:extLst>
          </p:cNvPr>
          <p:cNvSpPr>
            <a:spLocks noGrp="1"/>
          </p:cNvSpPr>
          <p:nvPr>
            <p:ph type="title"/>
          </p:nvPr>
        </p:nvSpPr>
        <p:spPr>
          <a:xfrm>
            <a:off x="1371599" y="294538"/>
            <a:ext cx="9895951" cy="1033669"/>
          </a:xfrm>
        </p:spPr>
        <p:txBody>
          <a:bodyPr>
            <a:normAutofit/>
          </a:bodyPr>
          <a:lstStyle/>
          <a:p>
            <a:r>
              <a:rPr lang="en-GB" sz="4000">
                <a:solidFill>
                  <a:srgbClr val="FFFFFF"/>
                </a:solidFill>
              </a:rPr>
              <a:t>Scripts</a:t>
            </a:r>
          </a:p>
        </p:txBody>
      </p:sp>
      <p:sp>
        <p:nvSpPr>
          <p:cNvPr id="3" name="Content Placeholder 2">
            <a:extLst>
              <a:ext uri="{FF2B5EF4-FFF2-40B4-BE49-F238E27FC236}">
                <a16:creationId xmlns:a16="http://schemas.microsoft.com/office/drawing/2014/main" id="{EE2FAD53-1A4C-A28D-5914-30FDD0ADF125}"/>
              </a:ext>
            </a:extLst>
          </p:cNvPr>
          <p:cNvSpPr>
            <a:spLocks noGrp="1"/>
          </p:cNvSpPr>
          <p:nvPr>
            <p:ph idx="1"/>
          </p:nvPr>
        </p:nvSpPr>
        <p:spPr>
          <a:xfrm>
            <a:off x="-4" y="1590740"/>
            <a:ext cx="12191997" cy="5267259"/>
          </a:xfrm>
        </p:spPr>
        <p:txBody>
          <a:bodyPr anchor="t" anchorCtr="0">
            <a:normAutofit lnSpcReduction="10000"/>
          </a:bodyPr>
          <a:lstStyle/>
          <a:p>
            <a:r>
              <a:rPr lang="en-GB" sz="2000" dirty="0"/>
              <a:t>Gameplay Scripts-</a:t>
            </a:r>
          </a:p>
          <a:p>
            <a:pPr lvl="1"/>
            <a:r>
              <a:rPr lang="en-GB" sz="2000" b="1" dirty="0" err="1"/>
              <a:t>HexTile</a:t>
            </a:r>
            <a:r>
              <a:rPr lang="en-GB" sz="2000" dirty="0"/>
              <a:t> – Constructor for each </a:t>
            </a:r>
            <a:r>
              <a:rPr lang="en-GB" sz="2000" dirty="0" err="1"/>
              <a:t>HexTile</a:t>
            </a:r>
            <a:r>
              <a:rPr lang="en-GB" sz="2000" dirty="0"/>
              <a:t> store 3D coordinates and Elevation Int</a:t>
            </a:r>
          </a:p>
          <a:p>
            <a:pPr lvl="1"/>
            <a:r>
              <a:rPr lang="en-GB" sz="2000" b="1" dirty="0" err="1"/>
              <a:t>HighlightManager</a:t>
            </a:r>
            <a:r>
              <a:rPr lang="en-GB" sz="2000" dirty="0"/>
              <a:t> – Highlight tiles around a central tile on a separate Tilemap, dependant on if they are matching or adjacent elevations.</a:t>
            </a:r>
          </a:p>
          <a:p>
            <a:pPr lvl="1"/>
            <a:r>
              <a:rPr lang="en-GB" sz="2000" b="1" dirty="0" err="1"/>
              <a:t>ObjectiveManager</a:t>
            </a:r>
            <a:r>
              <a:rPr lang="en-GB" sz="2000" dirty="0"/>
              <a:t> – Checks if players current position is the same as a win tile. If so activate </a:t>
            </a:r>
            <a:r>
              <a:rPr lang="en-GB" sz="2000" dirty="0" err="1"/>
              <a:t>WinPanel</a:t>
            </a:r>
            <a:r>
              <a:rPr lang="en-GB" sz="2000" dirty="0"/>
              <a:t>.</a:t>
            </a:r>
          </a:p>
          <a:p>
            <a:pPr lvl="1"/>
            <a:r>
              <a:rPr lang="en-GB" sz="2000" b="1" dirty="0"/>
              <a:t>Rover</a:t>
            </a:r>
            <a:r>
              <a:rPr lang="en-GB" sz="2000" dirty="0"/>
              <a:t> – Adds and </a:t>
            </a:r>
            <a:r>
              <a:rPr lang="en-GB" sz="2000" dirty="0" err="1"/>
              <a:t>Undos</a:t>
            </a:r>
            <a:r>
              <a:rPr lang="en-GB" sz="2000" dirty="0"/>
              <a:t> moves from Rovers path. Can execute path to move rover through each tile, at the cost of 10% battery per tile. Updates UI to represent this.</a:t>
            </a:r>
          </a:p>
          <a:p>
            <a:pPr lvl="1"/>
            <a:r>
              <a:rPr lang="en-GB" sz="2000" b="1" dirty="0" err="1"/>
              <a:t>TileClickDetection</a:t>
            </a:r>
            <a:r>
              <a:rPr lang="en-GB" sz="2000" dirty="0"/>
              <a:t> – Detects mouse clicks on Tilemap, converting world position to Tilemap position and adding it to rover moves. Also detects “Z” to undo and “Space” to execute path.</a:t>
            </a:r>
          </a:p>
          <a:p>
            <a:pPr lvl="1"/>
            <a:r>
              <a:rPr lang="en-GB" sz="2000" b="1" dirty="0" err="1"/>
              <a:t>TilemapManager</a:t>
            </a:r>
            <a:r>
              <a:rPr lang="en-GB" sz="2000" dirty="0"/>
              <a:t> – Loops through all tiles upon start and adds their elevation (set by tile colour) to a dictionary with their coordinates. </a:t>
            </a:r>
          </a:p>
          <a:p>
            <a:pPr marL="457200" lvl="1" indent="0">
              <a:buNone/>
            </a:pPr>
            <a:endParaRPr lang="en-GB" sz="2000" dirty="0"/>
          </a:p>
          <a:p>
            <a:r>
              <a:rPr lang="en-GB" sz="2000" dirty="0"/>
              <a:t>Unused A* algorithm (Perhaps implemented later) Heavily adapted from various sources on the internet (and buggy for hexes)</a:t>
            </a:r>
          </a:p>
          <a:p>
            <a:endParaRPr lang="en-GB" sz="2000" dirty="0"/>
          </a:p>
          <a:p>
            <a:r>
              <a:rPr lang="en-GB" sz="2000" dirty="0"/>
              <a:t>Menu Scripts all work the same currently. Pull a scene name from scene name </a:t>
            </a:r>
            <a:r>
              <a:rPr lang="en-GB" sz="2000" dirty="0" err="1"/>
              <a:t>enum</a:t>
            </a:r>
            <a:r>
              <a:rPr lang="en-GB" sz="2000" dirty="0"/>
              <a:t> and switch scene upon button press. (Besides from a simple line drawer for level select)</a:t>
            </a:r>
          </a:p>
        </p:txBody>
      </p:sp>
    </p:spTree>
    <p:extLst>
      <p:ext uri="{BB962C8B-B14F-4D97-AF65-F5344CB8AC3E}">
        <p14:creationId xmlns:p14="http://schemas.microsoft.com/office/powerpoint/2010/main" val="3400300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9E7761-FD29-A078-EC36-4EB3D5C4846A}"/>
              </a:ext>
            </a:extLst>
          </p:cNvPr>
          <p:cNvSpPr>
            <a:spLocks noGrp="1"/>
          </p:cNvSpPr>
          <p:nvPr>
            <p:ph type="title"/>
          </p:nvPr>
        </p:nvSpPr>
        <p:spPr>
          <a:xfrm>
            <a:off x="1371599" y="294538"/>
            <a:ext cx="9895951" cy="1033669"/>
          </a:xfrm>
        </p:spPr>
        <p:txBody>
          <a:bodyPr>
            <a:normAutofit/>
          </a:bodyPr>
          <a:lstStyle/>
          <a:p>
            <a:r>
              <a:rPr lang="en-GB" sz="4000">
                <a:solidFill>
                  <a:srgbClr val="FFFFFF"/>
                </a:solidFill>
              </a:rPr>
              <a:t>What’s Next?</a:t>
            </a:r>
          </a:p>
        </p:txBody>
      </p:sp>
      <p:sp>
        <p:nvSpPr>
          <p:cNvPr id="3" name="Content Placeholder 2">
            <a:extLst>
              <a:ext uri="{FF2B5EF4-FFF2-40B4-BE49-F238E27FC236}">
                <a16:creationId xmlns:a16="http://schemas.microsoft.com/office/drawing/2014/main" id="{3CDB76BA-226D-356D-7C8D-1A033263CA6E}"/>
              </a:ext>
            </a:extLst>
          </p:cNvPr>
          <p:cNvSpPr>
            <a:spLocks noGrp="1"/>
          </p:cNvSpPr>
          <p:nvPr>
            <p:ph idx="1"/>
          </p:nvPr>
        </p:nvSpPr>
        <p:spPr>
          <a:xfrm>
            <a:off x="-4" y="1590740"/>
            <a:ext cx="12191997" cy="5267259"/>
          </a:xfrm>
        </p:spPr>
        <p:txBody>
          <a:bodyPr anchor="t" anchorCtr="0">
            <a:noAutofit/>
          </a:bodyPr>
          <a:lstStyle/>
          <a:p>
            <a:r>
              <a:rPr lang="en-GB" sz="2600" dirty="0"/>
              <a:t>Expand on Objectives ( Various Ideas)</a:t>
            </a:r>
          </a:p>
          <a:p>
            <a:pPr lvl="1"/>
            <a:r>
              <a:rPr lang="en-GB" sz="2200" dirty="0"/>
              <a:t>I’ll comment on these more at the end as I’d like your opinion.</a:t>
            </a:r>
          </a:p>
          <a:p>
            <a:r>
              <a:rPr lang="en-GB" sz="2600" dirty="0"/>
              <a:t>Implement Unique Planet Modifiers-</a:t>
            </a:r>
          </a:p>
          <a:p>
            <a:pPr lvl="2"/>
            <a:r>
              <a:rPr lang="en-GB" sz="2200" dirty="0"/>
              <a:t>Dust Storms, Fog of War, Icy Surface, Asteroid Impacts, Liquid Terrain etc</a:t>
            </a:r>
          </a:p>
          <a:p>
            <a:r>
              <a:rPr lang="en-GB" sz="2600" dirty="0"/>
              <a:t>Create Shop/Workshop. </a:t>
            </a:r>
          </a:p>
          <a:p>
            <a:pPr lvl="2"/>
            <a:r>
              <a:rPr lang="en-GB" sz="2200" dirty="0"/>
              <a:t>Rover Customisation (gameplay &amp; cosmetic)</a:t>
            </a:r>
          </a:p>
          <a:p>
            <a:r>
              <a:rPr lang="en-GB" sz="2600" dirty="0"/>
              <a:t>Implement Settings Menu Features</a:t>
            </a:r>
          </a:p>
          <a:p>
            <a:r>
              <a:rPr lang="en-GB" sz="2600" dirty="0"/>
              <a:t>Audio / SFX</a:t>
            </a:r>
          </a:p>
          <a:p>
            <a:r>
              <a:rPr lang="en-GB" sz="2600" dirty="0"/>
              <a:t>More tailored assets</a:t>
            </a:r>
          </a:p>
          <a:p>
            <a:r>
              <a:rPr lang="en-GB" sz="2600" dirty="0"/>
              <a:t>Mobile Port / Accessibility Features</a:t>
            </a:r>
          </a:p>
          <a:p>
            <a:r>
              <a:rPr lang="en-GB" sz="2600" dirty="0"/>
              <a:t>Debugging &amp; Testing</a:t>
            </a:r>
          </a:p>
          <a:p>
            <a:pPr marL="0" indent="0">
              <a:buNone/>
            </a:pPr>
            <a:endParaRPr lang="en-GB" sz="2600" dirty="0"/>
          </a:p>
          <a:p>
            <a:endParaRPr lang="en-GB" sz="2600" dirty="0"/>
          </a:p>
        </p:txBody>
      </p:sp>
    </p:spTree>
    <p:extLst>
      <p:ext uri="{BB962C8B-B14F-4D97-AF65-F5344CB8AC3E}">
        <p14:creationId xmlns:p14="http://schemas.microsoft.com/office/powerpoint/2010/main" val="13754496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DA750C-B542-B392-7A7D-97C0FFFDB7E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11BC61A-B4BA-8B9B-3BE5-DA1570CF3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E7A1E34-919D-F95E-94CB-994FC9E246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63046C0-98D3-DB22-5E88-BFD38C2E4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896CA3E-F891-3392-3385-E5BDA901A7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6864A7D-5B64-8F9F-A683-58B4249D0D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587717-DBD6-0938-F170-9044DA408489}"/>
              </a:ext>
            </a:extLst>
          </p:cNvPr>
          <p:cNvSpPr>
            <a:spLocks noGrp="1"/>
          </p:cNvSpPr>
          <p:nvPr>
            <p:ph type="title"/>
          </p:nvPr>
        </p:nvSpPr>
        <p:spPr>
          <a:xfrm>
            <a:off x="1371599" y="294538"/>
            <a:ext cx="9895951" cy="1033669"/>
          </a:xfrm>
        </p:spPr>
        <p:txBody>
          <a:bodyPr>
            <a:normAutofit/>
          </a:bodyPr>
          <a:lstStyle/>
          <a:p>
            <a:r>
              <a:rPr lang="en-GB" sz="4000" dirty="0">
                <a:solidFill>
                  <a:schemeClr val="bg1"/>
                </a:solidFill>
              </a:rPr>
              <a:t>Future UI Designs- Gameplay UI</a:t>
            </a:r>
          </a:p>
        </p:txBody>
      </p:sp>
      <p:sp>
        <p:nvSpPr>
          <p:cNvPr id="3" name="Content Placeholder 2">
            <a:extLst>
              <a:ext uri="{FF2B5EF4-FFF2-40B4-BE49-F238E27FC236}">
                <a16:creationId xmlns:a16="http://schemas.microsoft.com/office/drawing/2014/main" id="{4586D361-82CD-77E2-2D17-0E1A0E1962A7}"/>
              </a:ext>
            </a:extLst>
          </p:cNvPr>
          <p:cNvSpPr>
            <a:spLocks noGrp="1"/>
          </p:cNvSpPr>
          <p:nvPr>
            <p:ph idx="1"/>
          </p:nvPr>
        </p:nvSpPr>
        <p:spPr>
          <a:xfrm>
            <a:off x="1371599" y="2318197"/>
            <a:ext cx="9724031" cy="3683358"/>
          </a:xfrm>
        </p:spPr>
        <p:txBody>
          <a:bodyPr anchor="ctr">
            <a:normAutofit/>
          </a:bodyPr>
          <a:lstStyle/>
          <a:p>
            <a:pPr marL="0" indent="0">
              <a:buNone/>
            </a:pPr>
            <a:endParaRPr lang="en-GB" sz="1700" dirty="0"/>
          </a:p>
          <a:p>
            <a:endParaRPr lang="en-GB" sz="1700" dirty="0"/>
          </a:p>
        </p:txBody>
      </p:sp>
      <p:pic>
        <p:nvPicPr>
          <p:cNvPr id="4" name="Picture 3" descr="A screenshot of a video game&#10;&#10;AI-generated content may be incorrect.">
            <a:extLst>
              <a:ext uri="{FF2B5EF4-FFF2-40B4-BE49-F238E27FC236}">
                <a16:creationId xmlns:a16="http://schemas.microsoft.com/office/drawing/2014/main" id="{1CF03F80-0024-DBE3-DCFC-3039DC26F8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5129" y="1897458"/>
            <a:ext cx="9001741" cy="3758260"/>
          </a:xfrm>
          <a:prstGeom prst="rect">
            <a:avLst/>
          </a:prstGeom>
        </p:spPr>
      </p:pic>
      <p:sp>
        <p:nvSpPr>
          <p:cNvPr id="5" name="TextBox 4">
            <a:extLst>
              <a:ext uri="{FF2B5EF4-FFF2-40B4-BE49-F238E27FC236}">
                <a16:creationId xmlns:a16="http://schemas.microsoft.com/office/drawing/2014/main" id="{BFFC644A-89DD-1FFC-59D3-4DC0181251EE}"/>
              </a:ext>
            </a:extLst>
          </p:cNvPr>
          <p:cNvSpPr txBox="1"/>
          <p:nvPr/>
        </p:nvSpPr>
        <p:spPr>
          <a:xfrm>
            <a:off x="294572" y="6093953"/>
            <a:ext cx="2841390" cy="369332"/>
          </a:xfrm>
          <a:prstGeom prst="rect">
            <a:avLst/>
          </a:prstGeom>
          <a:noFill/>
        </p:spPr>
        <p:txBody>
          <a:bodyPr wrap="square" rtlCol="0">
            <a:spAutoFit/>
          </a:bodyPr>
          <a:lstStyle/>
          <a:p>
            <a:r>
              <a:rPr lang="en-GB" dirty="0"/>
              <a:t>Inspired by Fallout 1 UI</a:t>
            </a:r>
          </a:p>
        </p:txBody>
      </p:sp>
      <p:sp>
        <p:nvSpPr>
          <p:cNvPr id="6" name="TextBox 5">
            <a:extLst>
              <a:ext uri="{FF2B5EF4-FFF2-40B4-BE49-F238E27FC236}">
                <a16:creationId xmlns:a16="http://schemas.microsoft.com/office/drawing/2014/main" id="{64BA19E3-3DED-24DF-6A6D-1A1EA15D9620}"/>
              </a:ext>
            </a:extLst>
          </p:cNvPr>
          <p:cNvSpPr txBox="1"/>
          <p:nvPr/>
        </p:nvSpPr>
        <p:spPr>
          <a:xfrm>
            <a:off x="6032585" y="6052731"/>
            <a:ext cx="5112048" cy="369332"/>
          </a:xfrm>
          <a:prstGeom prst="rect">
            <a:avLst/>
          </a:prstGeom>
          <a:noFill/>
        </p:spPr>
        <p:txBody>
          <a:bodyPr wrap="square" rtlCol="0">
            <a:spAutoFit/>
          </a:bodyPr>
          <a:lstStyle/>
          <a:p>
            <a:r>
              <a:rPr lang="en-GB" dirty="0"/>
              <a:t>Much more tactical, slower paced game design</a:t>
            </a:r>
          </a:p>
        </p:txBody>
      </p:sp>
    </p:spTree>
    <p:extLst>
      <p:ext uri="{BB962C8B-B14F-4D97-AF65-F5344CB8AC3E}">
        <p14:creationId xmlns:p14="http://schemas.microsoft.com/office/powerpoint/2010/main" val="2937989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C0DA0D8-3EB0-F1E5-4470-C23F4FC4E0A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B2C1C56-B3EA-1703-D198-CF486A6EFB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C6E40C9-9703-58D9-9E74-E25212503E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FF2B72F-555F-31A0-06BC-A845D66417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DF3F803-A6BC-63C6-B905-78F1C8A9C8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C75E0C3-B9D0-E2A4-C1E4-77D2B2A3B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864B60-ED6F-CBDF-A496-2368EFB9969D}"/>
              </a:ext>
            </a:extLst>
          </p:cNvPr>
          <p:cNvSpPr>
            <a:spLocks noGrp="1"/>
          </p:cNvSpPr>
          <p:nvPr>
            <p:ph type="title"/>
          </p:nvPr>
        </p:nvSpPr>
        <p:spPr>
          <a:xfrm>
            <a:off x="1371599" y="294538"/>
            <a:ext cx="9895951" cy="1033669"/>
          </a:xfrm>
        </p:spPr>
        <p:txBody>
          <a:bodyPr>
            <a:normAutofit/>
          </a:bodyPr>
          <a:lstStyle/>
          <a:p>
            <a:r>
              <a:rPr lang="en-GB" sz="4000" dirty="0">
                <a:solidFill>
                  <a:schemeClr val="bg1"/>
                </a:solidFill>
              </a:rPr>
              <a:t>Future UI Designs- Shop</a:t>
            </a:r>
          </a:p>
        </p:txBody>
      </p:sp>
      <p:sp>
        <p:nvSpPr>
          <p:cNvPr id="3" name="Content Placeholder 2">
            <a:extLst>
              <a:ext uri="{FF2B5EF4-FFF2-40B4-BE49-F238E27FC236}">
                <a16:creationId xmlns:a16="http://schemas.microsoft.com/office/drawing/2014/main" id="{ED098734-116C-AD2A-1A27-A0D4A03A805A}"/>
              </a:ext>
            </a:extLst>
          </p:cNvPr>
          <p:cNvSpPr>
            <a:spLocks noGrp="1"/>
          </p:cNvSpPr>
          <p:nvPr>
            <p:ph idx="1"/>
          </p:nvPr>
        </p:nvSpPr>
        <p:spPr>
          <a:xfrm>
            <a:off x="1371599" y="2318197"/>
            <a:ext cx="9724031" cy="3683358"/>
          </a:xfrm>
        </p:spPr>
        <p:txBody>
          <a:bodyPr anchor="ctr">
            <a:normAutofit/>
          </a:bodyPr>
          <a:lstStyle/>
          <a:p>
            <a:pPr marL="0" indent="0">
              <a:buNone/>
            </a:pPr>
            <a:endParaRPr lang="en-GB" sz="1700" dirty="0"/>
          </a:p>
          <a:p>
            <a:endParaRPr lang="en-GB" sz="1700" dirty="0"/>
          </a:p>
        </p:txBody>
      </p:sp>
      <p:pic>
        <p:nvPicPr>
          <p:cNvPr id="4" name="Picture 3" descr="A screenshot of a computer&#10;&#10;AI-generated content may be incorrect.">
            <a:extLst>
              <a:ext uri="{FF2B5EF4-FFF2-40B4-BE49-F238E27FC236}">
                <a16:creationId xmlns:a16="http://schemas.microsoft.com/office/drawing/2014/main" id="{A631A004-2DF5-A200-CA26-CE0C23EE4E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47264" y="2318197"/>
            <a:ext cx="6587007" cy="4605153"/>
          </a:xfrm>
          <a:prstGeom prst="rect">
            <a:avLst/>
          </a:prstGeom>
        </p:spPr>
      </p:pic>
      <p:sp>
        <p:nvSpPr>
          <p:cNvPr id="5" name="TextBox 4">
            <a:extLst>
              <a:ext uri="{FF2B5EF4-FFF2-40B4-BE49-F238E27FC236}">
                <a16:creationId xmlns:a16="http://schemas.microsoft.com/office/drawing/2014/main" id="{6A13905A-A6C1-5732-D03E-2A43505FBAA3}"/>
              </a:ext>
            </a:extLst>
          </p:cNvPr>
          <p:cNvSpPr txBox="1"/>
          <p:nvPr/>
        </p:nvSpPr>
        <p:spPr>
          <a:xfrm>
            <a:off x="279742" y="2086679"/>
            <a:ext cx="2230256" cy="646331"/>
          </a:xfrm>
          <a:prstGeom prst="rect">
            <a:avLst/>
          </a:prstGeom>
          <a:noFill/>
        </p:spPr>
        <p:txBody>
          <a:bodyPr wrap="square" rtlCol="0">
            <a:spAutoFit/>
          </a:bodyPr>
          <a:lstStyle/>
          <a:p>
            <a:r>
              <a:rPr lang="en-GB" dirty="0"/>
              <a:t>Buy New Objectives/Missions</a:t>
            </a:r>
          </a:p>
        </p:txBody>
      </p:sp>
      <p:sp>
        <p:nvSpPr>
          <p:cNvPr id="6" name="TextBox 5">
            <a:extLst>
              <a:ext uri="{FF2B5EF4-FFF2-40B4-BE49-F238E27FC236}">
                <a16:creationId xmlns:a16="http://schemas.microsoft.com/office/drawing/2014/main" id="{1CF892D0-D771-7BCE-85F1-06262ABB0E3B}"/>
              </a:ext>
            </a:extLst>
          </p:cNvPr>
          <p:cNvSpPr txBox="1"/>
          <p:nvPr/>
        </p:nvSpPr>
        <p:spPr>
          <a:xfrm>
            <a:off x="3998711" y="1662782"/>
            <a:ext cx="3752210" cy="646331"/>
          </a:xfrm>
          <a:prstGeom prst="rect">
            <a:avLst/>
          </a:prstGeom>
          <a:noFill/>
        </p:spPr>
        <p:txBody>
          <a:bodyPr wrap="square" rtlCol="0">
            <a:spAutoFit/>
          </a:bodyPr>
          <a:lstStyle/>
          <a:p>
            <a:r>
              <a:rPr lang="en-GB" dirty="0"/>
              <a:t>New Tools e.g. traverse higher elevations</a:t>
            </a:r>
          </a:p>
        </p:txBody>
      </p:sp>
      <p:sp>
        <p:nvSpPr>
          <p:cNvPr id="7" name="TextBox 6">
            <a:extLst>
              <a:ext uri="{FF2B5EF4-FFF2-40B4-BE49-F238E27FC236}">
                <a16:creationId xmlns:a16="http://schemas.microsoft.com/office/drawing/2014/main" id="{32FC8178-361B-E698-B0B2-058465B333DE}"/>
              </a:ext>
            </a:extLst>
          </p:cNvPr>
          <p:cNvSpPr txBox="1"/>
          <p:nvPr/>
        </p:nvSpPr>
        <p:spPr>
          <a:xfrm>
            <a:off x="9520909" y="1985948"/>
            <a:ext cx="2090130" cy="646331"/>
          </a:xfrm>
          <a:prstGeom prst="rect">
            <a:avLst/>
          </a:prstGeom>
          <a:noFill/>
        </p:spPr>
        <p:txBody>
          <a:bodyPr wrap="square" rtlCol="0">
            <a:spAutoFit/>
          </a:bodyPr>
          <a:lstStyle/>
          <a:p>
            <a:r>
              <a:rPr lang="en-GB" dirty="0"/>
              <a:t>More Battery, More Carry Weight etc</a:t>
            </a:r>
          </a:p>
        </p:txBody>
      </p:sp>
      <p:sp>
        <p:nvSpPr>
          <p:cNvPr id="9" name="TextBox 8">
            <a:extLst>
              <a:ext uri="{FF2B5EF4-FFF2-40B4-BE49-F238E27FC236}">
                <a16:creationId xmlns:a16="http://schemas.microsoft.com/office/drawing/2014/main" id="{AEFF83E2-31B6-FF5A-D520-6E3F16326B81}"/>
              </a:ext>
            </a:extLst>
          </p:cNvPr>
          <p:cNvSpPr txBox="1"/>
          <p:nvPr/>
        </p:nvSpPr>
        <p:spPr>
          <a:xfrm>
            <a:off x="565861" y="4271421"/>
            <a:ext cx="1436038" cy="646331"/>
          </a:xfrm>
          <a:prstGeom prst="rect">
            <a:avLst/>
          </a:prstGeom>
          <a:noFill/>
        </p:spPr>
        <p:txBody>
          <a:bodyPr wrap="square" rtlCol="0">
            <a:spAutoFit/>
          </a:bodyPr>
          <a:lstStyle/>
          <a:p>
            <a:r>
              <a:rPr lang="en-GB" dirty="0"/>
              <a:t>Individual Items</a:t>
            </a:r>
          </a:p>
        </p:txBody>
      </p:sp>
      <p:cxnSp>
        <p:nvCxnSpPr>
          <p:cNvPr id="11" name="Straight Connector 10">
            <a:extLst>
              <a:ext uri="{FF2B5EF4-FFF2-40B4-BE49-F238E27FC236}">
                <a16:creationId xmlns:a16="http://schemas.microsoft.com/office/drawing/2014/main" id="{9FE83FD3-AB5A-0B19-A4CD-0558C999D7E5}"/>
              </a:ext>
            </a:extLst>
          </p:cNvPr>
          <p:cNvCxnSpPr/>
          <p:nvPr/>
        </p:nvCxnSpPr>
        <p:spPr>
          <a:xfrm>
            <a:off x="2424081" y="2632279"/>
            <a:ext cx="564596" cy="0"/>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9017AA57-77F1-41E1-F523-E1E62D247717}"/>
              </a:ext>
            </a:extLst>
          </p:cNvPr>
          <p:cNvCxnSpPr>
            <a:cxnSpLocks/>
          </p:cNvCxnSpPr>
          <p:nvPr/>
        </p:nvCxnSpPr>
        <p:spPr>
          <a:xfrm flipV="1">
            <a:off x="1649807" y="3772797"/>
            <a:ext cx="1418650" cy="699533"/>
          </a:xfrm>
          <a:prstGeom prst="line">
            <a:avLst/>
          </a:prstGeom>
        </p:spPr>
        <p:style>
          <a:lnRef idx="2">
            <a:schemeClr val="dk1"/>
          </a:lnRef>
          <a:fillRef idx="0">
            <a:schemeClr val="dk1"/>
          </a:fillRef>
          <a:effectRef idx="1">
            <a:schemeClr val="dk1"/>
          </a:effectRef>
          <a:fontRef idx="minor">
            <a:schemeClr val="tx1"/>
          </a:fontRef>
        </p:style>
      </p:cxnSp>
      <p:cxnSp>
        <p:nvCxnSpPr>
          <p:cNvPr id="15" name="Straight Connector 14">
            <a:extLst>
              <a:ext uri="{FF2B5EF4-FFF2-40B4-BE49-F238E27FC236}">
                <a16:creationId xmlns:a16="http://schemas.microsoft.com/office/drawing/2014/main" id="{F88FF6DC-63F4-9BB6-6176-97F18933C2A9}"/>
              </a:ext>
            </a:extLst>
          </p:cNvPr>
          <p:cNvCxnSpPr>
            <a:cxnSpLocks/>
          </p:cNvCxnSpPr>
          <p:nvPr/>
        </p:nvCxnSpPr>
        <p:spPr>
          <a:xfrm flipH="1">
            <a:off x="5388210" y="2086679"/>
            <a:ext cx="87962" cy="46027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F05C5BB0-FF0B-3AB4-3AB6-EE60CD2756C5}"/>
              </a:ext>
            </a:extLst>
          </p:cNvPr>
          <p:cNvCxnSpPr>
            <a:cxnSpLocks/>
            <a:endCxn id="7" idx="1"/>
          </p:cNvCxnSpPr>
          <p:nvPr/>
        </p:nvCxnSpPr>
        <p:spPr>
          <a:xfrm flipV="1">
            <a:off x="7186325" y="2309114"/>
            <a:ext cx="2334584" cy="223952"/>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18195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0211D0-AF46-5907-7246-4BE73CE5D74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666F1FE-E469-AEB8-F50E-022577C300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3C1EE24-3564-153A-AFF7-605A71000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E9A98E7-A160-8682-1C36-5A9D26D8B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B45038D-CC90-59F9-61E0-474BCCBE2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E65E51C-E2D5-1550-F7A6-0FA0423FE6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421CDC-5B2B-D164-A841-DC367728D673}"/>
              </a:ext>
            </a:extLst>
          </p:cNvPr>
          <p:cNvSpPr>
            <a:spLocks noGrp="1"/>
          </p:cNvSpPr>
          <p:nvPr>
            <p:ph type="title"/>
          </p:nvPr>
        </p:nvSpPr>
        <p:spPr>
          <a:xfrm>
            <a:off x="1371599" y="294538"/>
            <a:ext cx="9895951" cy="1033669"/>
          </a:xfrm>
        </p:spPr>
        <p:txBody>
          <a:bodyPr>
            <a:normAutofit/>
          </a:bodyPr>
          <a:lstStyle/>
          <a:p>
            <a:r>
              <a:rPr lang="en-GB" sz="4000" dirty="0">
                <a:solidFill>
                  <a:schemeClr val="bg1"/>
                </a:solidFill>
              </a:rPr>
              <a:t>Future UI Designs- Workshop</a:t>
            </a:r>
          </a:p>
        </p:txBody>
      </p:sp>
      <p:sp>
        <p:nvSpPr>
          <p:cNvPr id="3" name="Content Placeholder 2">
            <a:extLst>
              <a:ext uri="{FF2B5EF4-FFF2-40B4-BE49-F238E27FC236}">
                <a16:creationId xmlns:a16="http://schemas.microsoft.com/office/drawing/2014/main" id="{8CBCD56A-4E81-981D-FFDC-C7B6D59FCA52}"/>
              </a:ext>
            </a:extLst>
          </p:cNvPr>
          <p:cNvSpPr>
            <a:spLocks noGrp="1"/>
          </p:cNvSpPr>
          <p:nvPr>
            <p:ph idx="1"/>
          </p:nvPr>
        </p:nvSpPr>
        <p:spPr>
          <a:xfrm>
            <a:off x="1371599" y="2318197"/>
            <a:ext cx="9724031" cy="3683358"/>
          </a:xfrm>
        </p:spPr>
        <p:txBody>
          <a:bodyPr anchor="ctr">
            <a:normAutofit/>
          </a:bodyPr>
          <a:lstStyle/>
          <a:p>
            <a:pPr marL="0" indent="0">
              <a:buNone/>
            </a:pPr>
            <a:endParaRPr lang="en-GB" sz="1700" dirty="0"/>
          </a:p>
          <a:p>
            <a:endParaRPr lang="en-GB" sz="1700" dirty="0"/>
          </a:p>
        </p:txBody>
      </p:sp>
      <p:pic>
        <p:nvPicPr>
          <p:cNvPr id="4" name="Picture 3" descr="A screenshot of a computer&#10;&#10;AI-generated content may be incorrect.">
            <a:extLst>
              <a:ext uri="{FF2B5EF4-FFF2-40B4-BE49-F238E27FC236}">
                <a16:creationId xmlns:a16="http://schemas.microsoft.com/office/drawing/2014/main" id="{1501E8A4-7AF0-B280-44C0-90EB3889D8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46652" y="1689048"/>
            <a:ext cx="6698691" cy="5019121"/>
          </a:xfrm>
          <a:prstGeom prst="rect">
            <a:avLst/>
          </a:prstGeom>
        </p:spPr>
      </p:pic>
      <p:sp>
        <p:nvSpPr>
          <p:cNvPr id="5" name="TextBox 4">
            <a:extLst>
              <a:ext uri="{FF2B5EF4-FFF2-40B4-BE49-F238E27FC236}">
                <a16:creationId xmlns:a16="http://schemas.microsoft.com/office/drawing/2014/main" id="{61B84D2E-4849-7DE2-CDFF-1E3DD2BFDE07}"/>
              </a:ext>
            </a:extLst>
          </p:cNvPr>
          <p:cNvSpPr txBox="1"/>
          <p:nvPr/>
        </p:nvSpPr>
        <p:spPr>
          <a:xfrm>
            <a:off x="9709614" y="2318197"/>
            <a:ext cx="2221563" cy="923330"/>
          </a:xfrm>
          <a:prstGeom prst="rect">
            <a:avLst/>
          </a:prstGeom>
          <a:noFill/>
        </p:spPr>
        <p:txBody>
          <a:bodyPr wrap="square" rtlCol="0">
            <a:spAutoFit/>
          </a:bodyPr>
          <a:lstStyle/>
          <a:p>
            <a:r>
              <a:rPr lang="en-GB" dirty="0"/>
              <a:t>Can be greatly expanded (or not used)</a:t>
            </a:r>
          </a:p>
        </p:txBody>
      </p:sp>
      <p:cxnSp>
        <p:nvCxnSpPr>
          <p:cNvPr id="6" name="Straight Connector 5">
            <a:extLst>
              <a:ext uri="{FF2B5EF4-FFF2-40B4-BE49-F238E27FC236}">
                <a16:creationId xmlns:a16="http://schemas.microsoft.com/office/drawing/2014/main" id="{944264EC-ECC4-489F-9D49-CA9C23BF26A7}"/>
              </a:ext>
            </a:extLst>
          </p:cNvPr>
          <p:cNvCxnSpPr>
            <a:cxnSpLocks/>
            <a:endCxn id="5" idx="1"/>
          </p:cNvCxnSpPr>
          <p:nvPr/>
        </p:nvCxnSpPr>
        <p:spPr>
          <a:xfrm>
            <a:off x="9199232" y="2737016"/>
            <a:ext cx="510382" cy="42846"/>
          </a:xfrm>
          <a:prstGeom prst="line">
            <a:avLst/>
          </a:prstGeom>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395EFB0-2F65-545C-3DEF-7311FEF1686A}"/>
              </a:ext>
            </a:extLst>
          </p:cNvPr>
          <p:cNvSpPr txBox="1"/>
          <p:nvPr/>
        </p:nvSpPr>
        <p:spPr>
          <a:xfrm>
            <a:off x="420675" y="2552956"/>
            <a:ext cx="2145873" cy="1477328"/>
          </a:xfrm>
          <a:prstGeom prst="rect">
            <a:avLst/>
          </a:prstGeom>
          <a:noFill/>
        </p:spPr>
        <p:txBody>
          <a:bodyPr wrap="square" rtlCol="0">
            <a:spAutoFit/>
          </a:bodyPr>
          <a:lstStyle/>
          <a:p>
            <a:r>
              <a:rPr lang="en-GB" dirty="0"/>
              <a:t>Inspired by Mario Kart. Cycle through items attach individually for different stats.</a:t>
            </a:r>
          </a:p>
        </p:txBody>
      </p:sp>
    </p:spTree>
    <p:extLst>
      <p:ext uri="{BB962C8B-B14F-4D97-AF65-F5344CB8AC3E}">
        <p14:creationId xmlns:p14="http://schemas.microsoft.com/office/powerpoint/2010/main" val="24060126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D7DDC9-4193-9006-0156-1E1CC6CC929C}"/>
              </a:ext>
            </a:extLst>
          </p:cNvPr>
          <p:cNvSpPr>
            <a:spLocks noGrp="1"/>
          </p:cNvSpPr>
          <p:nvPr>
            <p:ph type="title"/>
          </p:nvPr>
        </p:nvSpPr>
        <p:spPr>
          <a:xfrm>
            <a:off x="1371599" y="294538"/>
            <a:ext cx="9895951" cy="1033669"/>
          </a:xfrm>
        </p:spPr>
        <p:txBody>
          <a:bodyPr>
            <a:normAutofit/>
          </a:bodyPr>
          <a:lstStyle/>
          <a:p>
            <a:r>
              <a:rPr lang="en-GB" sz="4000">
                <a:solidFill>
                  <a:srgbClr val="FFFFFF"/>
                </a:solidFill>
              </a:rPr>
              <a:t>Questions For Second Marker</a:t>
            </a:r>
          </a:p>
        </p:txBody>
      </p:sp>
      <p:sp>
        <p:nvSpPr>
          <p:cNvPr id="3" name="Content Placeholder 2">
            <a:extLst>
              <a:ext uri="{FF2B5EF4-FFF2-40B4-BE49-F238E27FC236}">
                <a16:creationId xmlns:a16="http://schemas.microsoft.com/office/drawing/2014/main" id="{33F7E9DC-A288-1E24-B519-8EB28B43EDBC}"/>
              </a:ext>
            </a:extLst>
          </p:cNvPr>
          <p:cNvSpPr>
            <a:spLocks noGrp="1"/>
          </p:cNvSpPr>
          <p:nvPr>
            <p:ph idx="1"/>
          </p:nvPr>
        </p:nvSpPr>
        <p:spPr>
          <a:xfrm>
            <a:off x="-3" y="1590740"/>
            <a:ext cx="12191998" cy="5267259"/>
          </a:xfrm>
        </p:spPr>
        <p:txBody>
          <a:bodyPr anchor="t" anchorCtr="0">
            <a:normAutofit/>
          </a:bodyPr>
          <a:lstStyle/>
          <a:p>
            <a:r>
              <a:rPr lang="en-GB" sz="2600" dirty="0"/>
              <a:t>Any opinions on the way I should progress in terms of objectives? Here are my ideas-</a:t>
            </a:r>
          </a:p>
          <a:p>
            <a:pPr lvl="1"/>
            <a:r>
              <a:rPr lang="en-GB" sz="1800" b="1" dirty="0"/>
              <a:t>A tower defence / base building game. </a:t>
            </a:r>
            <a:r>
              <a:rPr lang="en-GB" sz="1800" dirty="0"/>
              <a:t>The recover is equipped with tools to gather resources. You must acquire these resources to build defences for the lunar base, or the humans inside will be exposed to a pathogen etc. This allows for quite a range of technical aspects, sticks to the core idea of rover exploration to gather resources, and is more interesting than simple navigation.</a:t>
            </a:r>
          </a:p>
          <a:p>
            <a:pPr lvl="1"/>
            <a:r>
              <a:rPr lang="en-GB" sz="1800" b="1" dirty="0"/>
              <a:t>Like battleships but with movement and unique weapons.</a:t>
            </a:r>
            <a:r>
              <a:rPr lang="en-GB" sz="1800" dirty="0"/>
              <a:t> Two rovers (equipped with weapons of some sort) must fire at the enemy, accounting for wind and terrain. This could also be quite technically challenging, and allows for the possibility of multiplayer, but I feel its straying away from the rover exploration idea.</a:t>
            </a:r>
          </a:p>
          <a:p>
            <a:pPr lvl="1"/>
            <a:r>
              <a:rPr lang="en-GB" sz="1800" b="1" dirty="0"/>
              <a:t>An almost text adventure kind of game mixed with D&amp;D. </a:t>
            </a:r>
            <a:r>
              <a:rPr lang="en-GB" sz="1800" dirty="0"/>
              <a:t>You navigate to tiles, each one returning text within the UI or adding to a mission log. I feel whilst this keeps to the idea of rover exploration it’s on the less technical side and will involve more story writing than coding/design.</a:t>
            </a:r>
          </a:p>
          <a:p>
            <a:pPr lvl="2"/>
            <a:r>
              <a:rPr lang="en-GB" sz="1600" dirty="0"/>
              <a:t>E.g. The rover discovers signs of life. What should it do? </a:t>
            </a:r>
            <a:r>
              <a:rPr lang="en-GB" sz="1600" i="1" dirty="0"/>
              <a:t>Follow Them / Go in the opposite direction</a:t>
            </a:r>
          </a:p>
          <a:p>
            <a:pPr lvl="2"/>
            <a:endParaRPr lang="en-GB" sz="600" dirty="0"/>
          </a:p>
          <a:p>
            <a:pPr lvl="2"/>
            <a:endParaRPr lang="en-GB" sz="600" dirty="0"/>
          </a:p>
          <a:p>
            <a:r>
              <a:rPr lang="en-GB" sz="2600" dirty="0"/>
              <a:t>Is mobile implementation too ambitious? (this will depend on the next steps)</a:t>
            </a:r>
          </a:p>
          <a:p>
            <a:r>
              <a:rPr lang="en-GB" sz="2600" dirty="0"/>
              <a:t>Could you suggest any further stretch goals?</a:t>
            </a:r>
          </a:p>
        </p:txBody>
      </p:sp>
    </p:spTree>
    <p:extLst>
      <p:ext uri="{BB962C8B-B14F-4D97-AF65-F5344CB8AC3E}">
        <p14:creationId xmlns:p14="http://schemas.microsoft.com/office/powerpoint/2010/main" val="295493059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960</Words>
  <Application>Microsoft Office PowerPoint</Application>
  <PresentationFormat>Widescreen</PresentationFormat>
  <Paragraphs>89</Paragraphs>
  <Slides>11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 Mid Project Demo-  Rover Exploration Game</vt:lpstr>
      <vt:lpstr>Project Outline-</vt:lpstr>
      <vt:lpstr>Feature Driven Development</vt:lpstr>
      <vt:lpstr>Is the Process Working</vt:lpstr>
      <vt:lpstr>Gameplay</vt:lpstr>
      <vt:lpstr>Scripts</vt:lpstr>
      <vt:lpstr>What’s Next?</vt:lpstr>
      <vt:lpstr>Future UI Designs- Gameplay UI</vt:lpstr>
      <vt:lpstr>Future UI Designs- Shop</vt:lpstr>
      <vt:lpstr>Future UI Designs- Workshop</vt:lpstr>
      <vt:lpstr>Questions For Second Marker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 Parkes</dc:creator>
  <cp:lastModifiedBy>Dan Parkes</cp:lastModifiedBy>
  <cp:revision>7</cp:revision>
  <dcterms:created xsi:type="dcterms:W3CDTF">2025-03-09T21:17:12Z</dcterms:created>
  <dcterms:modified xsi:type="dcterms:W3CDTF">2025-03-12T19:23:18Z</dcterms:modified>
</cp:coreProperties>
</file>